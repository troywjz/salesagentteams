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71624b8baf4032" /><Relationship Type="http://schemas.openxmlformats.org/officeDocument/2006/relationships/extended-properties" Target="/docProps/app.xml" Id="R449481f1bdf24e2a" /><Relationship Type="http://schemas.openxmlformats.org/officeDocument/2006/relationships/officeDocument" Target="/ppt/presentation.xml" Id="Rf0d8ee49e8d641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4a517694c143ab"/>
    <p:sldMasterId xmlns:r="http://schemas.openxmlformats.org/officeDocument/2006/relationships" id="2147483650" r:id="Re1bfc4eb72d848c1"/>
  </p:sldMasterIdLst>
  <p:notesMasterIdLst>
    <p:notesMasterId xmlns:r="http://schemas.openxmlformats.org/officeDocument/2006/relationships" r:id="Rb550f468a6534929"/>
  </p:notesMasterIdLst>
  <p:sldIdLst>
    <p:sldId xmlns:r="http://schemas.openxmlformats.org/officeDocument/2006/relationships" id="256" r:id="R4aed686e02a64cec"/>
    <p:sldId xmlns:r="http://schemas.openxmlformats.org/officeDocument/2006/relationships" id="257" r:id="R6a5dba39e24e40c9"/>
    <p:sldId xmlns:r="http://schemas.openxmlformats.org/officeDocument/2006/relationships" id="258" r:id="R16540fe461924443"/>
    <p:sldId xmlns:r="http://schemas.openxmlformats.org/officeDocument/2006/relationships" id="259" r:id="R8e008e8dbbd74049"/>
    <p:sldId xmlns:r="http://schemas.openxmlformats.org/officeDocument/2006/relationships" id="260" r:id="R97ba6333c2e14948"/>
    <p:sldId xmlns:r="http://schemas.openxmlformats.org/officeDocument/2006/relationships" id="261" r:id="R392eb04573dd4a52"/>
    <p:sldId xmlns:r="http://schemas.openxmlformats.org/officeDocument/2006/relationships" id="262" r:id="R17663e56dba64499"/>
    <p:sldId xmlns:r="http://schemas.openxmlformats.org/officeDocument/2006/relationships" id="263" r:id="Rdae263feb66444c5"/>
    <p:sldId xmlns:r="http://schemas.openxmlformats.org/officeDocument/2006/relationships" id="264" r:id="Rd6f8c695ecf74e3a"/>
    <p:sldId xmlns:r="http://schemas.openxmlformats.org/officeDocument/2006/relationships" id="265" r:id="R759925afa8514a5a"/>
    <p:sldId xmlns:r="http://schemas.openxmlformats.org/officeDocument/2006/relationships" id="266" r:id="R40feac7fafb64ddc"/>
    <p:sldId xmlns:r="http://schemas.openxmlformats.org/officeDocument/2006/relationships" id="267" r:id="Rcb10ec79711340b1"/>
    <p:sldId xmlns:r="http://schemas.openxmlformats.org/officeDocument/2006/relationships" id="268" r:id="Rea1a363292574ec5"/>
    <p:sldId xmlns:r="http://schemas.openxmlformats.org/officeDocument/2006/relationships" id="269" r:id="R62a0e587a7b64b33"/>
    <p:sldId xmlns:r="http://schemas.openxmlformats.org/officeDocument/2006/relationships" id="270" r:id="R59d96efb2e5f40be"/>
    <p:sldId xmlns:r="http://schemas.openxmlformats.org/officeDocument/2006/relationships" id="271" r:id="R5454280c42764ccf"/>
    <p:sldId xmlns:r="http://schemas.openxmlformats.org/officeDocument/2006/relationships" id="272" r:id="R164ca2953bc84fd1"/>
    <p:sldId xmlns:r="http://schemas.openxmlformats.org/officeDocument/2006/relationships" id="273" r:id="R89c999abb88c4451"/>
    <p:sldId xmlns:r="http://schemas.openxmlformats.org/officeDocument/2006/relationships" id="274" r:id="R87e298fa943748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b6dc0746e745fe" /><Relationship Type="http://schemas.openxmlformats.org/officeDocument/2006/relationships/slideMaster" Target="/ppt/slideMasters/slideMaster1.xml" Id="R634a517694c143ab" /><Relationship Type="http://schemas.openxmlformats.org/officeDocument/2006/relationships/slideMaster" Target="/ppt/slideMasters/slideMaster2.xml" Id="Re1bfc4eb72d848c1" /><Relationship Type="http://schemas.openxmlformats.org/officeDocument/2006/relationships/notesMaster" Target="/ppt/notesMasters/notesMaster1.xml" Id="Rb550f468a6534929" /><Relationship Type="http://schemas.openxmlformats.org/officeDocument/2006/relationships/presProps" Target="/ppt/presProps.xml" Id="Rdebe94b73daa43fd" /><Relationship Type="http://schemas.openxmlformats.org/officeDocument/2006/relationships/viewProps" Target="/ppt/viewProps.xml" Id="Rcf00151f9d82438f" /><Relationship Type="http://schemas.openxmlformats.org/officeDocument/2006/relationships/tableStyles" Target="/ppt/tableStyles.xml" Id="R4a6c14413c02463c" /><Relationship Type="http://schemas.openxmlformats.org/officeDocument/2006/relationships/slide" Target="/ppt/slides/slide1.xml" Id="R4aed686e02a64cec" /><Relationship Type="http://schemas.openxmlformats.org/officeDocument/2006/relationships/slide" Target="/ppt/slides/slide2.xml" Id="R6a5dba39e24e40c9" /><Relationship Type="http://schemas.openxmlformats.org/officeDocument/2006/relationships/slide" Target="/ppt/slides/slide3.xml" Id="R16540fe461924443" /><Relationship Type="http://schemas.openxmlformats.org/officeDocument/2006/relationships/slide" Target="/ppt/slides/slide4.xml" Id="R8e008e8dbbd74049" /><Relationship Type="http://schemas.openxmlformats.org/officeDocument/2006/relationships/slide" Target="/ppt/slides/slide5.xml" Id="R97ba6333c2e14948" /><Relationship Type="http://schemas.openxmlformats.org/officeDocument/2006/relationships/slide" Target="/ppt/slides/slide6.xml" Id="R392eb04573dd4a52" /><Relationship Type="http://schemas.openxmlformats.org/officeDocument/2006/relationships/slide" Target="/ppt/slides/slide7.xml" Id="R17663e56dba64499" /><Relationship Type="http://schemas.openxmlformats.org/officeDocument/2006/relationships/slide" Target="/ppt/slides/slide8.xml" Id="Rdae263feb66444c5" /><Relationship Type="http://schemas.openxmlformats.org/officeDocument/2006/relationships/slide" Target="/ppt/slides/slide9.xml" Id="Rd6f8c695ecf74e3a" /><Relationship Type="http://schemas.openxmlformats.org/officeDocument/2006/relationships/slide" Target="/ppt/slides/slide10.xml" Id="R759925afa8514a5a" /><Relationship Type="http://schemas.openxmlformats.org/officeDocument/2006/relationships/slide" Target="/ppt/slides/slide11.xml" Id="R40feac7fafb64ddc" /><Relationship Type="http://schemas.openxmlformats.org/officeDocument/2006/relationships/slide" Target="/ppt/slides/slide12.xml" Id="Rcb10ec79711340b1" /><Relationship Type="http://schemas.openxmlformats.org/officeDocument/2006/relationships/slide" Target="/ppt/slides/slide13.xml" Id="Rea1a363292574ec5" /><Relationship Type="http://schemas.openxmlformats.org/officeDocument/2006/relationships/slide" Target="/ppt/slides/slide14.xml" Id="R62a0e587a7b64b33" /><Relationship Type="http://schemas.openxmlformats.org/officeDocument/2006/relationships/slide" Target="/ppt/slides/slide15.xml" Id="R59d96efb2e5f40be" /><Relationship Type="http://schemas.openxmlformats.org/officeDocument/2006/relationships/slide" Target="/ppt/slides/slide16.xml" Id="R5454280c42764ccf" /><Relationship Type="http://schemas.openxmlformats.org/officeDocument/2006/relationships/slide" Target="/ppt/slides/slide17.xml" Id="R164ca2953bc84fd1" /><Relationship Type="http://schemas.openxmlformats.org/officeDocument/2006/relationships/slide" Target="/ppt/slides/slide18.xml" Id="R89c999abb88c4451" /><Relationship Type="http://schemas.openxmlformats.org/officeDocument/2006/relationships/slide" Target="/ppt/slides/slide19.xml" Id="R87e298fa943748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daf2e810ff2448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1a33dbd8284758" /><Relationship Type="http://schemas.openxmlformats.org/officeDocument/2006/relationships/notesMaster" Target="/ppt/notesMasters/notesMaster1.xml" Id="R6c322aca991b4e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ac94c322714b72" /><Relationship Type="http://schemas.openxmlformats.org/officeDocument/2006/relationships/notesMaster" Target="/ppt/notesMasters/notesMaster1.xml" Id="Rc846a3136a3645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670b268b1b44d1" /><Relationship Type="http://schemas.openxmlformats.org/officeDocument/2006/relationships/notesMaster" Target="/ppt/notesMasters/notesMaster1.xml" Id="Rad85f43b201849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3b7470ccfc4672" /><Relationship Type="http://schemas.openxmlformats.org/officeDocument/2006/relationships/notesMaster" Target="/ppt/notesMasters/notesMaster1.xml" Id="R4bf60bd4a2424c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21b9d6a4884bcc" /><Relationship Type="http://schemas.openxmlformats.org/officeDocument/2006/relationships/notesMaster" Target="/ppt/notesMasters/notesMaster1.xml" Id="R62c5f0eadd5e4c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9b6f7bd0864986" /><Relationship Type="http://schemas.openxmlformats.org/officeDocument/2006/relationships/notesMaster" Target="/ppt/notesMasters/notesMaster1.xml" Id="Rf217e686cf0947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1fb50ee8184dbf" /><Relationship Type="http://schemas.openxmlformats.org/officeDocument/2006/relationships/notesMaster" Target="/ppt/notesMasters/notesMaster1.xml" Id="Rb588101c98164b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aa4c7f4644482a" /><Relationship Type="http://schemas.openxmlformats.org/officeDocument/2006/relationships/notesMaster" Target="/ppt/notesMasters/notesMaster1.xml" Id="R2c93f122351f41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f2791c61934e44" /><Relationship Type="http://schemas.openxmlformats.org/officeDocument/2006/relationships/notesMaster" Target="/ppt/notesMasters/notesMaster1.xml" Id="Rcb6c50d831a44a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c65b4c314f4367" /><Relationship Type="http://schemas.openxmlformats.org/officeDocument/2006/relationships/notesMaster" Target="/ppt/notesMasters/notesMaster1.xml" Id="R71942501e8bf4a2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b3c4d19b064c1b" /><Relationship Type="http://schemas.openxmlformats.org/officeDocument/2006/relationships/notesMaster" Target="/ppt/notesMasters/notesMaster1.xml" Id="Rf53af57e1ed6468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f2c996ce61446de" /><Relationship Type="http://schemas.openxmlformats.org/officeDocument/2006/relationships/notesMaster" Target="/ppt/notesMasters/notesMaster1.xml" Id="Ra3b1a9900c0248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260524ad95445cf" /><Relationship Type="http://schemas.openxmlformats.org/officeDocument/2006/relationships/notesMaster" Target="/ppt/notesMasters/notesMaster1.xml" Id="R5daa4d872a974b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7440253332f4583" /><Relationship Type="http://schemas.openxmlformats.org/officeDocument/2006/relationships/notesMaster" Target="/ppt/notesMasters/notesMaster1.xml" Id="Ra880cd20130248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d44c722f9a9458b" /><Relationship Type="http://schemas.openxmlformats.org/officeDocument/2006/relationships/notesMaster" Target="/ppt/notesMasters/notesMaster1.xml" Id="Rce7e760cde9b48d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3d8733784c84838" /><Relationship Type="http://schemas.openxmlformats.org/officeDocument/2006/relationships/notesMaster" Target="/ppt/notesMasters/notesMaster1.xml" Id="Ra34684c3ac65466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a303deb5794004" /><Relationship Type="http://schemas.openxmlformats.org/officeDocument/2006/relationships/notesMaster" Target="/ppt/notesMasters/notesMaster1.xml" Id="R3ea9e0a05222455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53e832b3914e82" /><Relationship Type="http://schemas.openxmlformats.org/officeDocument/2006/relationships/notesMaster" Target="/ppt/notesMasters/notesMaster1.xml" Id="R4e087720e82e421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1b06e1002141f9" /><Relationship Type="http://schemas.openxmlformats.org/officeDocument/2006/relationships/notesMaster" Target="/ppt/notesMasters/notesMaster1.xml" Id="Ra7629120a4854d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GOAI 参赛模板：GOAI 官方参赛模板</a:t>
            </a:r>
            <a:endParaRPr/>
          </a:p>
          <a:p xmlns:a="http://schemas.openxmlformats.org/drawingml/2006/main">
            <a:r>
              <a:t>- 项目 README：README.md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submission/preliminary/作品简介_500字.md</a:t>
            </a:r>
            <a:endParaRPr/>
          </a:p>
          <a:p xmlns:a="http://schemas.openxmlformats.org/drawingml/2006/main">
            <a:r>
              <a:t>- app/agents/ 与 app/graph/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submission/preliminary/方案说明.md</a:t>
            </a:r>
            <a:endParaRPr/>
          </a:p>
          <a:p xmlns:a="http://schemas.openxmlformats.org/drawingml/2006/main">
            <a:r>
              <a:t>- submission/preliminary/运行证据清单.md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GOAI Agent Infra 赛道说明：https://www.goaihz.com/tracks?track=infra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submission/preliminary/方案说明.md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docs/ARCHITECTURE.md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docs/ARCHITECTURE.md</a:t>
            </a:r>
            <a:endParaRPr/>
          </a:p>
          <a:p xmlns:a="http://schemas.openxmlformats.org/drawingml/2006/main">
            <a:r>
              <a:t>- app/graph/state.py</a:t>
            </a:r>
            <a:endParaRPr/>
          </a:p>
          <a:p xmlns:a="http://schemas.openxmlformats.org/drawingml/2006/main">
            <a:r>
              <a:t>- agentteams/local_runner.py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 官方架构：https://github.com/agentscope-ai/AgentTeams/blob/main/docs/k8s-native-agent-orch.md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agentteams/local_runner.py</a:t>
            </a:r>
            <a:endParaRPr/>
          </a:p>
          <a:p xmlns:a="http://schemas.openxmlformats.org/drawingml/2006/main">
            <a:r>
              <a:t>- sales_agent_teams/contracts.py</a:t>
            </a:r>
            <a:endParaRPr/>
          </a:p>
          <a:p xmlns:a="http://schemas.openxmlformats.org/drawingml/2006/main">
            <a:r>
              <a:t>- submission/preliminary/运行证据清单.md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 Skill 约定：https://github.com/agentscope-ai/AgentTeams/blob/main/docs/development.md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agentteams/workers/*/skills/*/SKILL.md</a:t>
            </a:r>
            <a:endParaRPr/>
          </a:p>
          <a:p xmlns:a="http://schemas.openxmlformats.org/drawingml/2006/main">
            <a:r>
              <a:t>- submission/preliminary/方案说明.md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submission/preliminary/开源声明.md</a:t>
            </a:r>
            <a:endParaRPr/>
          </a:p>
          <a:p xmlns:a="http://schemas.openxmlformats.org/drawingml/2006/main">
            <a:r>
              <a:t>- docs/OPEN_SOURCE_CHECKLIST.md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scripts/check_competition_readiness.py</a:t>
            </a:r>
            <a:endParaRPr/>
          </a:p>
          <a:p xmlns:a="http://schemas.openxmlformats.org/drawingml/2006/main">
            <a:r>
              <a:t>- tests/（79 项零 API 验证）</a:t>
            </a:r>
            <a:endParaRPr/>
          </a:p>
          <a:p xmlns:a="http://schemas.openxmlformats.org/drawingml/2006/main">
            <a:r>
              <a:t>- submission/preliminary/运行证据清单.md（2026-08-12 受控真实 API 试运行）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submission/preliminary/开源声明.md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docs/OPEN_SOURCE_CHECKLIST.md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submission/preliminary/运行证据清单.md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submission/preliminary/历史评测与验证报告.md</a:t>
            </a:r>
            <a:endParaRPr/>
          </a:p>
          <a:p xmlns:a="http://schemas.openxmlformats.org/drawingml/2006/main">
            <a:r>
              <a:t>- 既有授权去标识化离线盲评汇总结论；本次未重跑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submission/preliminary/开源声明.md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submission/preliminary/开源声明.md</a:t>
            </a:r>
          </a:p>
          <a:p xmlns:a="http://schemas.openxmlformats.org/drawingml/2006/main">
            <a:r>
              <a:t>- GitHub：https://github.com/troywjz/SalesAgentTeams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50cef7ba44f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c3c200647764bb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61a000c71c4069" /><Relationship Type="http://schemas.openxmlformats.org/officeDocument/2006/relationships/slideLayout" Target="/ppt/slideLayouts/slideLayout1.xml" Id="R5e01f28082cf45ef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e92071b9200b49be" /><Relationship Type="http://schemas.openxmlformats.org/officeDocument/2006/relationships/slideLayout" Target="/ppt/slideLayouts/slideLayout2.xml" Id="R04fd7649ebf1453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01f28082cf45e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04fd7649ebf1453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eb18b7b93482a" /><Relationship Type="http://schemas.openxmlformats.org/officeDocument/2006/relationships/notesSlide" Target="/ppt/notesSlides/notesSlide1.xml" Id="R140bf89c883b42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54c648fb04e86" /><Relationship Type="http://schemas.openxmlformats.org/officeDocument/2006/relationships/notesSlide" Target="/ppt/notesSlides/notesSlide2.xml" Id="R91f60f20f0ce47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b72810fc1c4aac" /><Relationship Type="http://schemas.openxmlformats.org/officeDocument/2006/relationships/notesSlide" Target="/ppt/notesSlides/notesSlide3.xml" Id="Re1cf880412ed4b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d2dec58fd4368" /><Relationship Type="http://schemas.openxmlformats.org/officeDocument/2006/relationships/notesSlide" Target="/ppt/notesSlides/notesSlide4.xml" Id="R58dfbbb6151d40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7b6099e384ed0" /><Relationship Type="http://schemas.openxmlformats.org/officeDocument/2006/relationships/image" Target="/ppt/media/image.png" Id="R46a9eadc71434960" /><Relationship Type="http://schemas.openxmlformats.org/officeDocument/2006/relationships/image" Target="/ppt/media/image.svg" Id="R79fcb8159e854bdc" /><Relationship Type="http://schemas.openxmlformats.org/officeDocument/2006/relationships/image" Target="/ppt/media/image2.png" Id="Rcd3c0f2dcb5c4f5a" /><Relationship Type="http://schemas.openxmlformats.org/officeDocument/2006/relationships/image" Target="/ppt/media/image2.svg" Id="R5a8aac668ef84c9c" /><Relationship Type="http://schemas.openxmlformats.org/officeDocument/2006/relationships/notesSlide" Target="/ppt/notesSlides/notesSlide5.xml" Id="R17d16b26424142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9b146680484dd3" /><Relationship Type="http://schemas.openxmlformats.org/officeDocument/2006/relationships/notesSlide" Target="/ppt/notesSlides/notesSlide6.xml" Id="R4f151c8620f84b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700d1b1b74775" /><Relationship Type="http://schemas.openxmlformats.org/officeDocument/2006/relationships/image" Target="/ppt/media/image3.png" Id="R846e8d48edef4a6e" /><Relationship Type="http://schemas.openxmlformats.org/officeDocument/2006/relationships/image" Target="/ppt/media/image3.svg" Id="R024df02000ee4a0e" /><Relationship Type="http://schemas.openxmlformats.org/officeDocument/2006/relationships/notesSlide" Target="/ppt/notesSlides/notesSlide7.xml" Id="Ra8ad26bcdb6647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1958ccbe7946f9" /><Relationship Type="http://schemas.openxmlformats.org/officeDocument/2006/relationships/notesSlide" Target="/ppt/notesSlides/notesSlide8.xml" Id="R1b024948cc7042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3d8d19ef44817" /><Relationship Type="http://schemas.openxmlformats.org/officeDocument/2006/relationships/image" Target="/ppt/media/image4.png" Id="R287866f4468b4525" /><Relationship Type="http://schemas.openxmlformats.org/officeDocument/2006/relationships/image" Target="/ppt/media/image4.svg" Id="Rf35643dd9f5148e2" /><Relationship Type="http://schemas.openxmlformats.org/officeDocument/2006/relationships/image" Target="/ppt/media/image5.png" Id="R4e75570cc9ff4ba6" /><Relationship Type="http://schemas.openxmlformats.org/officeDocument/2006/relationships/image" Target="/ppt/media/image5.svg" Id="R12e658825e9f4e40" /><Relationship Type="http://schemas.openxmlformats.org/officeDocument/2006/relationships/notesSlide" Target="/ppt/notesSlides/notesSlide9.xml" Id="R4d7992b5a2c842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15731306f0476e" /><Relationship Type="http://schemas.openxmlformats.org/officeDocument/2006/relationships/notesSlide" Target="/ppt/notesSlides/notesSlide10.xml" Id="R1cb5bd506e0d4e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b7f1d288a4840" /><Relationship Type="http://schemas.openxmlformats.org/officeDocument/2006/relationships/image" Target="/ppt/media/image6.png" Id="R29f0db40a79349f5" /><Relationship Type="http://schemas.openxmlformats.org/officeDocument/2006/relationships/image" Target="/ppt/media/image6.svg" Id="R8e4d8fd098f74c61" /><Relationship Type="http://schemas.openxmlformats.org/officeDocument/2006/relationships/notesSlide" Target="/ppt/notesSlides/notesSlide11.xml" Id="R226f2017007044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80f0a0234f4cab" /><Relationship Type="http://schemas.openxmlformats.org/officeDocument/2006/relationships/notesSlide" Target="/ppt/notesSlides/notesSlide12.xml" Id="R0813709e453343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6c29e4e3a4434" /><Relationship Type="http://schemas.openxmlformats.org/officeDocument/2006/relationships/image" Target="/ppt/media/image7.png" Id="R4c59feac3b134c8f" /><Relationship Type="http://schemas.openxmlformats.org/officeDocument/2006/relationships/image" Target="/ppt/media/image7.svg" Id="R839c4bf616904046" /><Relationship Type="http://schemas.openxmlformats.org/officeDocument/2006/relationships/image" Target="/ppt/media/image8.png" Id="Rae24984b9ec94963" /><Relationship Type="http://schemas.openxmlformats.org/officeDocument/2006/relationships/image" Target="/ppt/media/image8.svg" Id="R6fa57995abf64f1d" /><Relationship Type="http://schemas.openxmlformats.org/officeDocument/2006/relationships/image" Target="/ppt/media/image9.png" Id="Re4970b7addff4745" /><Relationship Type="http://schemas.openxmlformats.org/officeDocument/2006/relationships/image" Target="/ppt/media/image9.svg" Id="R61c6c5d9da524c93" /><Relationship Type="http://schemas.openxmlformats.org/officeDocument/2006/relationships/image" Target="/ppt/media/image10.png" Id="Rd254799568fd479b" /><Relationship Type="http://schemas.openxmlformats.org/officeDocument/2006/relationships/image" Target="/ppt/media/image10.svg" Id="Re7be80e0ada34b78" /><Relationship Type="http://schemas.openxmlformats.org/officeDocument/2006/relationships/image" Target="/ppt/media/image11.png" Id="Rf825893d6b4b4a14" /><Relationship Type="http://schemas.openxmlformats.org/officeDocument/2006/relationships/image" Target="/ppt/media/image11.svg" Id="R4932c1927ad84797" /><Relationship Type="http://schemas.openxmlformats.org/officeDocument/2006/relationships/notesSlide" Target="/ppt/notesSlides/notesSlide13.xml" Id="R2583c500208c46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9b135354164083" /><Relationship Type="http://schemas.openxmlformats.org/officeDocument/2006/relationships/notesSlide" Target="/ppt/notesSlides/notesSlide14.xml" Id="R430c89d911d84b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3a504ecf04c40" /><Relationship Type="http://schemas.openxmlformats.org/officeDocument/2006/relationships/image" Target="/ppt/media/image12.png" Id="Re1f9adea351448ae" /><Relationship Type="http://schemas.openxmlformats.org/officeDocument/2006/relationships/image" Target="/ppt/media/image12.svg" Id="R530794d7cdfb4ef6" /><Relationship Type="http://schemas.openxmlformats.org/officeDocument/2006/relationships/notesSlide" Target="/ppt/notesSlides/notesSlide15.xml" Id="R580f5d041e6e495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70fae612924681" /><Relationship Type="http://schemas.openxmlformats.org/officeDocument/2006/relationships/notesSlide" Target="/ppt/notesSlides/notesSlide16.xml" Id="R99f74aa9d8bb462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82a19a4de4e20" /><Relationship Type="http://schemas.openxmlformats.org/officeDocument/2006/relationships/image" Target="/ppt/media/image13.png" Id="Rf1437132dcbd4942" /><Relationship Type="http://schemas.openxmlformats.org/officeDocument/2006/relationships/image" Target="/ppt/media/image13.svg" Id="R0fd125ed353b4348" /><Relationship Type="http://schemas.openxmlformats.org/officeDocument/2006/relationships/image" Target="/ppt/media/image14.png" Id="R8e875f59b2484bc1" /><Relationship Type="http://schemas.openxmlformats.org/officeDocument/2006/relationships/image" Target="/ppt/media/image14.svg" Id="R8adcfc85a29a4bd6" /><Relationship Type="http://schemas.openxmlformats.org/officeDocument/2006/relationships/image" Target="/ppt/media/image15.png" Id="Rd1f5d5935a2a4a69" /><Relationship Type="http://schemas.openxmlformats.org/officeDocument/2006/relationships/image" Target="/ppt/media/image15.svg" Id="R9483f476bf704602" /><Relationship Type="http://schemas.openxmlformats.org/officeDocument/2006/relationships/notesSlide" Target="/ppt/notesSlides/notesSlide17.xml" Id="R5bdcc4ac3fdb4ff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5d600c9094b3d" /><Relationship Type="http://schemas.openxmlformats.org/officeDocument/2006/relationships/notesSlide" Target="/ppt/notesSlides/notesSlide18.xml" Id="Rae96aa06abbf48b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0f21ebfeb4495" /><Relationship Type="http://schemas.openxmlformats.org/officeDocument/2006/relationships/notesSlide" Target="/ppt/notesSlides/notesSlide19.xml" Id="R4e980363bf8840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F235185-9EC8-4E24-ACCC-251C0E97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A1F9437-A082-4268-BA46-A27AE556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5417B0-AAE9-4895-84C7-CA462A4E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374B855-D038-4D49-9737-C8E3C8C3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GOAI世界人工智能开源大赛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4FEB843-6D4C-4B07-A9A5-1DC81CB7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8686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SalesAgentTeams</a:t>
            </a:r>
            <a:endParaRPr sz="4600"/>
          </a:p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办公技能培训多智能体销售系统</a:t>
            </a:r>
            <a:endParaRPr sz="4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5142F45-5BC8-4B49-9D6F-ECC8AA11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EB6D6"/>
                </a:solidFill>
                <a:latin typeface="微软雅黑"/>
                <a:ea typeface="微软雅黑"/>
                <a:cs typeface="微软雅黑"/>
              </a:rPr>
              <a:t>troywjz｜个人开发者</a:t>
            </a:r>
            <a:endParaRPr sz="11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9024265-ED5F-42F5-A5B3-7F904F7A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26510"/>
            <a:ext cx="6096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Agent Infra 初赛 · 6 Worker · 10 Skill · 2 MCP</a:t>
            </a:r>
            <a:endParaRPr sz="1500" b="1" kern="0" spc="200">
              <a:solidFill>
                <a:srgbClr val="FF6B35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968088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882923-C89D-4533-85A7-D7D280B9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P0 · 一页纸速览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C91F18-60B0-44A7-B53F-8953E08E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作品简介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5A94354-9481-40CD-A3D5-C1E86029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5EA1E05-4DAA-46C7-847C-1F551677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D72E550-734A-43E2-AFC7-E067D26A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项目定位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E1A1E7E-5B34-4293-A88C-6AE4C309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办公技能培训销售多智能体协同系统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2B0FE79-4A73-4C31-885E-8FE35211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Excel · Word · PPT · AI 办公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B013B2D-8A64-40D6-8699-850E5A71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17C59F1-7F00-4E5E-9A3D-82432FB2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A2E4866-B58A-41E2-9403-807CA10E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问题与场景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939739A-7C42-46D3-9CAC-9FAA6800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场景分散，课程事实与风险边界难同时判断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6E42805-4F68-4370-8FAC-43A7AA24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个人学习 · 团队流程 · 数据安全 · 交易咨询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2D8C4C8-CDB7-44F6-9A51-5DBF9906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00152F3-3E5E-4BEE-B9D8-823169A5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9E37403-7802-4521-A830-F1786335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核心解决方案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CF7609A-DFEA-4C08-A905-038FFDB1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六 Worker 闭环，Safety 强审，MCP 受控调用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C1FF5A2-CB81-443D-A221-84D6FF0F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AgentTeams + LangGraph + Skill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48A3889-B8A4-4B4B-B076-905E8C1D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187C03E-E744-4C5D-97F4-1D0D3B8B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57A9E56-2266-40B2-9472-2B77DEE4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创新与差异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E37A771-4142-419A-A3A7-695EC21D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Agent Identity + 统一证据 + 可转人工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9D64D82-9E66-4639-B008-6EBF2CC1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协作可见，不把流程藏在单 Prompt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402D4810-CBE0-4458-B220-40FDCFA2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2E8CFE2-DE0D-435B-A28A-C75275F3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C1329F5-48C0-404D-BEE9-EC5AAF26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复用与开放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0014E53-D3AD-4B02-B1C5-6D8E7717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替换知识快照即可迁移业务场景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C33B5D6-F709-46F1-ABA3-137A1B05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10 Skill + 2 MCP · AGPL-3.0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B9E5076-8908-493A-977E-1D8C5285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B4C5EC6-1B50-4317-8A4F-25553425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04D075E-4D4B-4A6F-8A3D-DF766D6A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当前进展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DB14EAE-D9B1-419A-B545-255D265F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Web、MCP、AgentTeams、隔离数据库均可运行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5715A3C-1D73-4637-BFD0-2F698120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默认零 API · GitHub 可复现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C9DFB51-09E2-4C2E-9C08-56E94AE5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247697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5EE4FCD-8652-4F20-81EB-295CAFF2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137160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30F5DDC-0C64-450C-9D1B-F93195D6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14400" y="475488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9854268-1A69-4FF1-BD1F-620B167E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05156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30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0966F20-7D4C-4DCB-9A92-ECF779A7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57400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C05C8FB-A6E6-4BD7-B51D-404340B9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04288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9299865-C0E9-47FB-AB8C-FC8D3E46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04288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1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0ED630A-0D8C-4C04-8B53-2DA39ED7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2057400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办公技能场景与价值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0587E65-96D3-464F-919F-F87F2B09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2057400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CAA053A-1E27-4A27-A409-3ADF3C13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2304288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76873F1-0F80-431C-B0B0-C0BD234E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2304288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5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2F07B9F-E058-46C3-8B2C-FE3A08BD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2057400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运行验证与安全审计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F0ADF4F-0DFC-4576-B0EB-1D354559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99816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0772B4E-4B49-4C11-BAB1-AD7D9BC2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346704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50FAA94-A61D-4FA0-93C3-BD196CCB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346704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2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7296FE5-E6C8-4A3B-99B9-0351A0B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3099816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分层方案与数据隔离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A69AA58-220C-453A-B9CC-73C14442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3099816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C397D43-F179-4014-BDDE-21ABD005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3346704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0C18872-A5FF-4E5F-A88E-789403DD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3346704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6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469153-A5BF-423D-8A49-C4741CB2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3099816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开源复现与成本控制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6350235-425C-44D6-AFDA-E39190E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42232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bg1"/>
              </a:solidFill>
            </a:endParaRP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92D6FC9-1AF5-47DE-9719-95D0E9C8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4389120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D56ED43-DBD4-4B91-BDBA-F886D872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4389120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3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7B132EE-78B2-4365-904A-1A2C99A2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4142232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六 Worker 自主闭环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4E45D43-2147-4CB0-A6F7-57A9B4C8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4142232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7E45485-AE91-451C-85EE-40E6A406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4389120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5A1BBF6-5887-4BBB-AEA2-DE8228FD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4389120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7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A7EF7B8-5CB2-4C95-AE85-7C0B799E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4142232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历史评测与当前进展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C17F2E54-E5F9-469B-B7ED-CDA3E0F8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184648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B75713C-F0BB-4579-8458-E364343D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5431536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CF0B1E7E-5932-43BF-8F5B-CE994134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5431536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4</a:t>
            </a:r>
            <a:endParaRPr sz="13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DEC0DA7-EB39-4106-8FB3-506662B3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5184648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10 Skill 工程体系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FB3D760-923E-46C4-B179-BFE40EE6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5184648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49D78884-0678-44D4-8102-ABE80670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5431536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6926BE2B-523B-4833-9445-6BBE97D1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5431536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8</a:t>
            </a:r>
            <a:endParaRPr sz="13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1E84A966-5156-4E9E-9167-306862CB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5184648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团队与提交结论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841065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0D7A67-3D45-45F5-90D2-7943CC6E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278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第一章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3776987-E20D-4BE5-8912-D0440993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3710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办公技能场景与价值</a:t>
            </a:r>
            <a:endParaRPr sz="2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91AFE85-2980-4266-97F6-2D44404D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375" y="363855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94DBE62-2C55-42FF-B3ED-9FB4B6D3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6543" y="455295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EE54DA-0D8E-4F62-8138-3CB49176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6543" y="674751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场景价值与行业可复制性</a:t>
            </a:r>
            <a:endParaRPr sz="12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5A6AF97-7DF0-4250-B387-F5E4B7A7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4375" y="528447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14F6EC6-E5B9-4178-9413-162F7F23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4375" y="528447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E7491DF-E8A3-4C4E-898F-261BD79F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82097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9DBCCBBD-D814-4163-9181-6B0094DB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第一章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797B57F-D574-47C7-91C8-101103E1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办公技能场景与价值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21128854-0ABF-469C-9C92-BC9BD1E9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办公技能咨询同时涉及真实工作任务、客户基础、课程与价格、隐私和交易边界。六 Worker 让每一步都可验证。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9eadc71434960">
            <a:extLst>
              <a:ext uri="{96DAC541-7B7A-43D3-8B79-37D633B846F1}">
                <asvg:svgBlip xmlns:asvg="http://schemas.microsoft.com/office/drawing/2016/SVG/main" r:embed="R79fcb8159e854bd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0360" y="2390775"/>
            <a:ext cx="5560060" cy="3127375"/>
          </a:xfrm>
          <a:prstGeom xmlns:a="http://schemas.openxmlformats.org/drawingml/2006/main" prst="rect">
            <a:avLst/>
          </a:prstGeom>
        </p:spPr>
      </p:pic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B83B77D5-2DDD-4F3A-9F3A-4BBE922F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115" y="5574030"/>
            <a:ext cx="406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>工作场景 → 证据检索 → 推进草稿 → 安全审核 / 人工接管</a:t>
            </a:r>
            <a:endParaRPr/>
          </a:p>
        </p:txBody>
      </p:sp>
      <p:pic>
        <p:nvPicPr>
          <p:cNvPr id="1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3c0f2dcb5c4f5a">
            <a:extLst>
              <a:ext uri="{96DAC541-7B7A-43D3-8B79-37D633B846F1}">
                <asvg:svgBlip xmlns:asvg="http://schemas.microsoft.com/office/drawing/2016/SVG/main" r:embed="R5a8aac668ef84c9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2505" y="2390775"/>
            <a:ext cx="5485765" cy="31013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8260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45A6E6F-03AE-4922-B0BD-5F595ACC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278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二</a:t>
            </a: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882E710-9C7E-4603-AF5E-48901CA8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3710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分层方案与数据隔离</a:t>
            </a:r>
            <a:endParaRPr sz="2900" b="1">
              <a:solidFill>
                <a:srgbClr val="1B1F3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A0193C7-D47F-460D-A208-8D146E3B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092063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80F5B3A-50EA-44E6-B633-4D57C57C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第二章 · 承上启下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09B4A1A-54E9-49EC-8F63-4D442B89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分层方案与数据隔离</a:t>
            </a:r>
            <a:endParaRPr sz="2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8E631B1-78C0-4489-B6DD-29CBEEF0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E832AEDF-7F78-4DF8-A93C-7113EA33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LangGraph 保留业务内核，AgentTeams 负责外层协作；Web 18100 与数据库 15432 / sales_agent_demo 和原项目隔离。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4" name="图片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e8d48edef4a6e">
            <a:extLst>
              <a:ext uri="{96DAC541-7B7A-43D3-8B79-37D633B846F1}">
                <asvg:svgBlip xmlns:asvg="http://schemas.microsoft.com/office/drawing/2016/SVG/main" r:embed="R024df02000ee4a0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77415" y="1801495"/>
            <a:ext cx="7837805" cy="441833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4947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F8573C4A-8340-44D1-8FA8-B1AE4283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000"/>
          </a:p>
        </p:txBody>
      </p:sp>
      <p:sp>
        <p:nvSpPr>
          <p:cNvPr id="5" name="Text 0">
            <a:extLst xmlns:a="http://schemas.openxmlformats.org/drawingml/2006/main">
              <a:ext uri="{FF2B5EF4-FFF2-40B4-BE49-F238E27FC236}">
                <a16:creationId xmlns:a16="http://schemas.microsoft.com/office/drawing/2014/main" id="{31953C1D-EE34-4702-8B1A-874F2DD9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72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第三章</a:t>
            </a:r>
            <a:endParaRPr sz="1200"/>
          </a:p>
        </p:txBody>
      </p:sp>
      <p:sp>
        <p:nvSpPr>
          <p:cNvPr id="6" name="Text 1">
            <a:extLst xmlns:a="http://schemas.openxmlformats.org/drawingml/2006/main">
              <a:ext uri="{FF2B5EF4-FFF2-40B4-BE49-F238E27FC236}">
                <a16:creationId xmlns:a16="http://schemas.microsoft.com/office/drawing/2014/main" id="{36FE431F-16BB-44AF-93F7-D5AC4EE2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15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六 Worker 自主闭环</a:t>
            </a:r>
            <a:endParaRPr sz="2900"/>
          </a:p>
        </p:txBody>
      </p:sp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105DA698-1F2D-4578-A08B-D80053CD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FAAADF6B-7B72-4A35-8588-92B65D78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A4642102-7B7D-421D-9A8C-7BDD491B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多 Agent 协同与自主闭环能力</a:t>
            </a:r>
            <a:endParaRPr sz="1250"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3CEFFE93-166F-4072-AE24-F49F7D35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7AB93065-6670-47FC-9FFC-3E76F1AF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5906469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6937CD-7165-4B02-878A-6ADCAFFF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第三章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55B7ABF-E1F2-4106-A616-99C4D5A2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六 Worker 自主闭环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43FE40-C634-4691-84F8-4B456E6D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Manager → Team Leader → 六 Worker；task_id / turn_id / state / evidence_refs 贯穿分解、工具、审核和人工接管。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4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866f4468b4525">
            <a:extLst>
              <a:ext uri="{96DAC541-7B7A-43D3-8B79-37D633B846F1}">
                <asvg:svgBlip xmlns:asvg="http://schemas.microsoft.com/office/drawing/2016/SVG/main" r:embed="Rf35643dd9f5148e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5780" y="2304415"/>
            <a:ext cx="5283200" cy="2964180"/>
          </a:xfrm>
          <a:prstGeom xmlns:a="http://schemas.openxmlformats.org/drawingml/2006/main" prst="rect">
            <a:avLst/>
          </a:prstGeom>
        </p:spPr>
      </p:pic>
      <p:pic>
        <p:nvPicPr>
          <p:cNvPr id="45" name="图片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5570cc9ff4ba6">
            <a:extLst>
              <a:ext uri="{96DAC541-7B7A-43D3-8B79-37D633B846F1}">
                <asvg:svgBlip xmlns:asvg="http://schemas.microsoft.com/office/drawing/2016/SVG/main" r:embed="R12e658825e9f4e4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9370" y="2304415"/>
            <a:ext cx="5285740" cy="29641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3723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BAB5EF0-DDF2-4F35-A9FB-B1E4A880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1000"/>
          </a:p>
        </p:txBody>
      </p:sp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8E2D23B-657F-4CD0-AD29-FBD29B68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786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第四章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9F592BF-4EE1-4943-B9DB-D9A6FFA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218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10 Skill 工程体系</a:t>
            </a:r>
            <a:endParaRPr sz="2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D30623E-746C-4D85-A875-D5A2DD58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12" name="Text 3">
            <a:extLst xmlns:a="http://schemas.openxmlformats.org/drawingml/2006/main">
              <a:ext uri="{FF2B5EF4-FFF2-40B4-BE49-F238E27FC236}">
                <a16:creationId xmlns:a16="http://schemas.microsoft.com/office/drawing/2014/main" id="{41B9E504-8710-48DE-8489-47257961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13" name="Text 4">
            <a:extLst xmlns:a="http://schemas.openxmlformats.org/drawingml/2006/main">
              <a:ext uri="{FF2B5EF4-FFF2-40B4-BE49-F238E27FC236}">
                <a16:creationId xmlns:a16="http://schemas.microsoft.com/office/drawing/2014/main" id="{9390E715-1280-4BAF-9DE5-DB518723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每个 Worker 必须绑定可复用 Skill</a:t>
            </a:r>
            <a:endParaRPr sz="1250"/>
          </a:p>
        </p:txBody>
      </p:sp>
      <p:sp>
        <p:nvSpPr>
          <p:cNvPr id="14" name="Shape 5">
            <a:extLst xmlns:a="http://schemas.openxmlformats.org/drawingml/2006/main">
              <a:ext uri="{FF2B5EF4-FFF2-40B4-BE49-F238E27FC236}">
                <a16:creationId xmlns:a16="http://schemas.microsoft.com/office/drawing/2014/main" id="{D89CFFA1-D678-4241-8D75-3F931251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5" name="Text 6">
            <a:extLst xmlns:a="http://schemas.openxmlformats.org/drawingml/2006/main">
              <a:ext uri="{FF2B5EF4-FFF2-40B4-BE49-F238E27FC236}">
                <a16:creationId xmlns:a16="http://schemas.microsoft.com/office/drawing/2014/main" id="{B1195C99-B06E-406D-9C9E-E837A4E2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5424282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6BE237E-C8B8-4E23-BF3B-C68F1180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第四章 · 本赛题必选项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297C05-6A74-45D5-821D-5D67DE30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10 Skill 工程体系</a:t>
            </a:r>
            <a:endParaRPr sz="2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26D201-5172-4D2C-8459-6C4683B8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35BC9E-F3A9-4A54-8012-912A1BC0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A54109E-94CE-47AF-AC1E-E1ECFA9A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六业务 + Team Leader + Evidence + 2 Evaluation = 10 Skill；目的、输入输出、触发、工具、失败、安全、复用、流程与验证齐全。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5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f0db40a79349f5">
            <a:extLst>
              <a:ext uri="{96DAC541-7B7A-43D3-8B79-37D633B846F1}">
                <asvg:svgBlip xmlns:asvg="http://schemas.microsoft.com/office/drawing/2016/SVG/main" r:embed="R8e4d8fd098f74c6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25165" y="2377440"/>
            <a:ext cx="5741670" cy="32353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133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E934549-AE62-49D5-8A8E-68ED3809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12</a:t>
            </a:r>
            <a:endParaRPr sz="1000"/>
          </a:p>
        </p:txBody>
      </p:sp>
      <p:sp>
        <p:nvSpPr>
          <p:cNvPr id="5" name="Text 0">
            <a:extLst xmlns:a="http://schemas.openxmlformats.org/drawingml/2006/main">
              <a:ext uri="{FF2B5EF4-FFF2-40B4-BE49-F238E27FC236}">
                <a16:creationId xmlns:a16="http://schemas.microsoft.com/office/drawing/2014/main" id="{AB344959-382A-4E1E-B47F-2C023AAF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9199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第五章</a:t>
            </a:r>
            <a:endParaRPr sz="1200"/>
          </a:p>
        </p:txBody>
      </p:sp>
      <p:sp>
        <p:nvSpPr>
          <p:cNvPr id="6" name="Text 1">
            <a:extLst xmlns:a="http://schemas.openxmlformats.org/drawingml/2006/main">
              <a:ext uri="{FF2B5EF4-FFF2-40B4-BE49-F238E27FC236}">
                <a16:creationId xmlns:a16="http://schemas.microsoft.com/office/drawing/2014/main" id="{3410EB14-9574-46A2-AA1D-101C9384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6631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运行验证与安全审计</a:t>
            </a:r>
            <a:endParaRPr sz="2900"/>
          </a:p>
        </p:txBody>
      </p:sp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8B9F3037-0639-4BEC-8E5A-6553A9A9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A4498E82-B4DB-437A-B6E8-421F8259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8B21C923-DF90-4B47-B278-09CA34E8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代码可运行，证据可复现，风险可追溯</a:t>
            </a:r>
            <a:endParaRPr sz="1250"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A5276683-290A-4659-ACD3-24035752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57E19905-D7C8-4923-9223-08100BD4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3776955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9D2E57-DD0D-45E7-8D21-AC036F27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第五章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B90F193-0E69-478A-AE2F-0CA03C43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运行验证与安全审计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DC6C826-5649-4825-879E-BB7810F1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默认确定性模型完成 79 项测试；受控真实 API 试运行 6 / 6 Agent 单次成功，共 13,944 token；比赛项目未连接原会计数据库。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7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9feac3b134c8f">
            <a:extLst>
              <a:ext uri="{96DAC541-7B7A-43D3-8B79-37D633B846F1}">
                <asvg:svgBlip xmlns:asvg="http://schemas.microsoft.com/office/drawing/2016/SVG/main" r:embed="R839c4bf61690404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8200" y="1988820"/>
            <a:ext cx="3830087" cy="2160000"/>
          </a:xfrm>
          <a:prstGeom xmlns:a="http://schemas.openxmlformats.org/drawingml/2006/main" prst="rect">
            <a:avLst/>
          </a:prstGeom>
        </p:spPr>
      </p:pic>
      <p:pic>
        <p:nvPicPr>
          <p:cNvPr id="48" name="图片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24984b9ec94963">
            <a:extLst>
              <a:ext uri="{96DAC541-7B7A-43D3-8B79-37D633B846F1}">
                <asvg:svgBlip xmlns:asvg="http://schemas.microsoft.com/office/drawing/2016/SVG/main" r:embed="R6fa57995abf64f1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85535" y="1996440"/>
            <a:ext cx="3837275" cy="2160000"/>
          </a:xfrm>
          <a:prstGeom xmlns:a="http://schemas.openxmlformats.org/drawingml/2006/main" prst="rect">
            <a:avLst/>
          </a:prstGeom>
        </p:spPr>
      </p:pic>
      <p:pic>
        <p:nvPicPr>
          <p:cNvPr id="49" name="图片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70b7addff4745">
            <a:extLst>
              <a:ext uri="{96DAC541-7B7A-43D3-8B79-37D633B846F1}">
                <asvg:svgBlip xmlns:asvg="http://schemas.microsoft.com/office/drawing/2016/SVG/main" r:embed="R61c6c5d9da524c9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8200" y="4288155"/>
            <a:ext cx="3838315" cy="2160000"/>
          </a:xfrm>
          <a:prstGeom xmlns:a="http://schemas.openxmlformats.org/drawingml/2006/main" prst="rect">
            <a:avLst/>
          </a:prstGeom>
        </p:spPr>
      </p:pic>
      <p:pic>
        <p:nvPicPr>
          <p:cNvPr id="50" name="图片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4799568fd479b">
            <a:extLst>
              <a:ext uri="{96DAC541-7B7A-43D3-8B79-37D633B846F1}">
                <asvg:svgBlip xmlns:asvg="http://schemas.microsoft.com/office/drawing/2016/SVG/main" r:embed="Re7be80e0ada34b7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85535" y="4303395"/>
            <a:ext cx="3831800" cy="2160000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5893d6b4b4a14">
            <a:extLst>
              <a:ext uri="{96DAC541-7B7A-43D3-8B79-37D633B846F1}">
                <asvg:svgBlip xmlns:asvg="http://schemas.microsoft.com/office/drawing/2016/SVG/main" r:embed="R4932c1927ad8479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6750" y="2238375"/>
            <a:ext cx="10858500" cy="3524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7814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C9331C7-2A9B-4817-A585-3F7FC038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14</a:t>
            </a:r>
            <a:endParaRPr sz="1000"/>
          </a:p>
        </p:txBody>
      </p:sp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32E208B-8931-43FA-949D-DBD5D432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8373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第六章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A6B7531-1EEF-4A15-93F4-3190D3DA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5805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开源复现与成本控制</a:t>
            </a:r>
            <a:endParaRPr sz="2900"/>
          </a:p>
        </p:txBody>
      </p:sp>
      <p:sp>
        <p:nvSpPr>
          <p:cNvPr id="16" name="Shape 2">
            <a:extLst xmlns:a="http://schemas.openxmlformats.org/drawingml/2006/main">
              <a:ext uri="{FF2B5EF4-FFF2-40B4-BE49-F238E27FC236}">
                <a16:creationId xmlns:a16="http://schemas.microsoft.com/office/drawing/2014/main" id="{35E23781-D282-45D9-B7E9-A7A88504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17" name="Text 3">
            <a:extLst xmlns:a="http://schemas.openxmlformats.org/drawingml/2006/main">
              <a:ext uri="{FF2B5EF4-FFF2-40B4-BE49-F238E27FC236}">
                <a16:creationId xmlns:a16="http://schemas.microsoft.com/office/drawing/2014/main" id="{5D49FF82-8AFC-45FD-A5F7-4BA69D5B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18" name="Text 4">
            <a:extLst xmlns:a="http://schemas.openxmlformats.org/drawingml/2006/main">
              <a:ext uri="{FF2B5EF4-FFF2-40B4-BE49-F238E27FC236}">
                <a16:creationId xmlns:a16="http://schemas.microsoft.com/office/drawing/2014/main" id="{249E245C-1F08-4CBC-B2CC-FB2973DA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代码、Skill、MCP、数据与材料一体化开源</a:t>
            </a:r>
            <a:endParaRPr sz="1250"/>
          </a:p>
        </p:txBody>
      </p:sp>
      <p:sp>
        <p:nvSpPr>
          <p:cNvPr id="19" name="Shape 5">
            <a:extLst xmlns:a="http://schemas.openxmlformats.org/drawingml/2006/main">
              <a:ext uri="{FF2B5EF4-FFF2-40B4-BE49-F238E27FC236}">
                <a16:creationId xmlns:a16="http://schemas.microsoft.com/office/drawing/2014/main" id="{00418C91-1111-4F46-A018-5E78BB9E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0" name="Text 6">
            <a:extLst xmlns:a="http://schemas.openxmlformats.org/drawingml/2006/main">
              <a:ext uri="{FF2B5EF4-FFF2-40B4-BE49-F238E27FC236}">
                <a16:creationId xmlns:a16="http://schemas.microsoft.com/office/drawing/2014/main" id="{91F4854A-794E-4B4F-AC58-76F3335A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3193976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7B4386-4156-497B-A6DA-32643310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第六章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BE9691F-A3CD-46F6-9836-443449BD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开源复现与成本控制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9413057-5516-45EC-AF29-5418E05A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AGPL-3.0；默认零 API、一个独立数据库容器、完整启动命令、AgentTeams 清单、MCP 与自动合规检查均在 GitHub。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9adea351448ae">
            <a:extLst>
              <a:ext uri="{96DAC541-7B7A-43D3-8B79-37D633B846F1}">
                <asvg:svgBlip xmlns:asvg="http://schemas.microsoft.com/office/drawing/2016/SVG/main" r:embed="R530794d7cdfb4ef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6750" y="2238375"/>
            <a:ext cx="10858500" cy="3524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106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E96A2F1F-5C6A-4D59-9160-15217A1F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16</a:t>
            </a:r>
            <a:endParaRPr sz="1000"/>
          </a:p>
        </p:txBody>
      </p:sp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F678D32E-1413-4104-9C65-72161431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926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第七章</a:t>
            </a:r>
            <a:endParaRPr sz="12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4635DDF6-95C7-49CE-931F-7F4BAEAB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669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历史评测与当前进展</a:t>
            </a:r>
            <a:endParaRPr sz="2900"/>
          </a:p>
        </p:txBody>
      </p:sp>
    </p:spTree>
    <p:extLst>
      <p:ext uri="{BB962C8B-B14F-4D97-AF65-F5344CB8AC3E}">
        <p14:creationId xmlns:p14="http://schemas.microsoft.com/office/powerpoint/2010/main" val="9865252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422018B-1595-46BA-8023-B16D3556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第七章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ECDA58-7A39-4217-AA9A-F861AEE7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历史评测与当前进展</a:t>
            </a:r>
            <a:endParaRPr sz="29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3D48CDF-518B-4C8E-BC06-030193FD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A485733B-5FB3-4152-AF4E-AF735E18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98575"/>
            <a:ext cx="801306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历史盲评：144 回合，系统 80.00 vs 真人 64.44；合规 100%，推进 79.17%。
单评审、离线单轮；本次未重跑，不证明转化提升。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6" name="图片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437132dcbd4942">
            <a:extLst>
              <a:ext uri="{96DAC541-7B7A-43D3-8B79-37D633B846F1}">
                <asvg:svgBlip xmlns:asvg="http://schemas.microsoft.com/office/drawing/2016/SVG/main" r:embed="R0fd125ed353b434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9640" y="2328545"/>
            <a:ext cx="4911725" cy="2768600"/>
          </a:xfrm>
          <a:prstGeom xmlns:a="http://schemas.openxmlformats.org/drawingml/2006/main" prst="rect">
            <a:avLst/>
          </a:prstGeom>
        </p:spPr>
      </p:pic>
      <p:pic>
        <p:nvPicPr>
          <p:cNvPr id="47" name="图片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75f59b2484bc1">
            <a:extLst>
              <a:ext uri="{96DAC541-7B7A-43D3-8B79-37D633B846F1}">
                <asvg:svgBlip xmlns:asvg="http://schemas.microsoft.com/office/drawing/2016/SVG/main" r:embed="R8adcfc85a29a4bd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79210" y="2458720"/>
            <a:ext cx="5327015" cy="2482215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f5d5935a2a4a69">
            <a:extLst>
              <a:ext uri="{96DAC541-7B7A-43D3-8B79-37D633B846F1}">
                <asvg:svgBlip xmlns:asvg="http://schemas.microsoft.com/office/drawing/2016/SVG/main" r:embed="R9483f476bf7046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6750" y="2095500"/>
            <a:ext cx="10858500" cy="3714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5332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B841077-77D0-4113-9FFA-D1434A1A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/>
          </a:p>
        </p:txBody>
      </p:sp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4EC64015-C50A-4183-A841-D9E2B454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926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第八章</a:t>
            </a:r>
            <a:endParaRPr sz="12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02CAE3A5-0943-4886-B43C-0D5BC137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669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团队与提交结论</a:t>
            </a:r>
            <a:endParaRPr sz="2900" b="1">
              <a:solidFill>
                <a:srgbClr val="1B1F3B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9315214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7C6C6AB-5095-4F0D-8295-7F29C255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第八章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638C8D-8111-4671-9982-DAEED586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团队与提交结论</a:t>
            </a:r>
            <a:endParaRPr sz="2900" b="1">
              <a:solidFill>
                <a:srgbClr val="1B1F3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508CD92-87D5-4345-B4E0-27C53895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13840"/>
            <a:ext cx="9534525" cy="507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  <a:defRPr sz="1800">
                <a:solidFill>
                  <a:schemeClr val="tx1"/>
                </a:solidFill>
                <a:latin typeface="微软雅黑"/>
                <a:ea typeface="微软雅黑"/>
                <a:cs typeface="微软雅黑"/>
              </a:defRPr>
            </a:pPr>
            <a:r>
              <a:rPr sz="180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参赛者：troywjz｜个人开发者　｜　角色：项目负责人 · AI 产品设计 · 全栈开发　｜　负责：需求拆解、六 Agent / Worker、LangGraph、Skill、MCP、评测与开源交付　｜　作品：SalesAgentTeams　｜　GitHub：https://github.com/troywjz/SalesAgentTeams　｜　提交结论：可运行 · 可审计 · 默认零 API · 数据隔离 · 可开源复现</a:t>
            </a:r>
            <a:endParaRPr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6987007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2026-08-12T02:17:08.7090000Z</dcterms:created>
  <dcterms:modified xsi:type="dcterms:W3CDTF">2026-08-12T02:17:08.7090000Z</dcterms:modified>
</coreProperties>
</file>